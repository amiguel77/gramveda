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10"/>
  </p:notesMasterIdLst>
  <p:sldIdLst>
    <p:sldId id="291" r:id="rId4"/>
    <p:sldId id="281" r:id="rId5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6D3"/>
    <a:srgbClr val="008A3E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BF49F0-C584-413F-9501-5F1C064FDB0D}" v="7" dt="2026-08-22T18:29:42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88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F3558-08F0-E950-4D9B-FC9030B95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350718-FDE7-B8F4-493A-72587471F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8/22/2026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1BBA3D-E729-9F54-6F28-8A5008A331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964894" y="0"/>
            <a:ext cx="6262211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F86D0-0AC9-B616-C0AE-8E8A2705D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6EBE0-C678-0EAC-95AD-821A79C3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5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FE86-7649-C9A1-5C87-28CBD79A4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21E78B-69BF-397F-E849-ED37CABE1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99E02-0986-14E4-86DC-01E098A9A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80DBB-487A-6396-8931-CBBBCD67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4C5D2-83C9-B1AE-5C6D-E9155115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748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1D41-2358-BF53-4034-1B79C0B0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2079F-DBC3-563D-6923-7EB054464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A3532-A859-7216-0BC5-F30380AD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99E90-F705-C981-1F7F-58111A53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51D44-A5D5-1C79-A5F8-752750E1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25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5E9D-2670-9470-0413-0FB269C96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425CC-DE28-2695-A387-79BA3688D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AB87A-A7F4-62F4-907C-145D9D83C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654B3-0892-CD54-C9C0-4480CE96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4A224-705A-2309-1798-A3C62F1A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723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46BE-09C2-07C0-00E7-8CA2C7BAD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FDE7D-7254-7114-0039-82C33E65F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46D98-C813-444C-31D9-2F403D3C3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465E4-1C4B-5B78-FC74-0CF1AC9AF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7C62C-BD83-355E-7E5E-0E6748C5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DD02B-9B00-3DF6-47CA-FA3305EF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58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F87D-06FA-C336-E876-51CC98C0F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C9765-126E-D4EF-94B0-7B21DA71E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FF39E-0DA8-7670-4CD0-6DD5C89EB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D20D-43F6-8D16-AAEB-BB7C6639A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F8A31-1FF3-B4F8-E6DE-131FB03C1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6092F-E28C-429A-B73D-231BCFCA1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BB56E0-F6A1-0557-3BB0-947507AD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CB0EFF-D31F-B0B7-CCBF-FC92B1FF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530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0FFA4-B1F7-186C-46B4-52DF1007E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1EFB8-637C-F7CB-1FC9-912DFF1B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345C6-E919-A70C-ECCF-F63B1787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4CD06-9C60-8815-D8EE-B28C2F0F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2172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0EFE33-F82D-22C7-2D02-FE2EC299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DCA00E-7B61-FD41-7CFC-BA6E57C0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7C307-9498-54E8-B45A-117F5DE9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5112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F878-6199-5583-2FBA-2FF5D5E35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76A62-D8CE-DBB5-702B-518E35C47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EB6C8-C48C-06E4-C9F4-5D5CA17EA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8C96D-1385-53D2-3936-4F13AF1E6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7DDCF-4B2F-D3C9-27DC-B7162C8C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5CEE7-B284-5B8F-21ED-B1411B45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9512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0575-2418-E576-D94F-44AD4242D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0ED878-B376-B97A-0C8D-F8E62067E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87020-7BBF-0292-9C8B-461A4B23C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CA83E-86C8-DE58-7167-4C8BAE82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0BA3C-C779-238B-C6BB-D6973041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F41E5-141E-1BAD-69A8-C0EFD2F5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1430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E2EB-D882-C03A-5764-F16D5820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89E82-E9AC-4728-92F4-79847084B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365A4-9B1C-06E1-9421-6F2FC0BC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C43B7-B633-A9B2-3EB8-658AB779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25EBA-6AF1-10D2-B109-808E9069E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792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7F1609-C68F-ACD6-678A-2712B053BC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E080C-D253-B7A9-0886-40DDFD39F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DC843-0E54-2423-BF9F-C5EC5C23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23E02-F48C-25AC-9E65-7C6363771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C3320-4E2F-D98C-4107-D4EF6DC5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9125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0D36-819E-A126-F43E-C60111641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54343-7118-C36E-715F-4F356C102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E6DF8-379B-87F6-C8F3-79996A83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15C35-0AC4-D7E1-BCE4-2FBB0EC8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6BFA3-BBF4-A8CE-21BF-9ACFA676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3128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543C-6963-DDAC-571A-C63C50336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5DD9A-E8A8-9686-B2E6-E64CABE5C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D11BA-60DC-9C28-A26E-C60612A13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FFC73-9AA9-895D-C141-1537C7196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130B2-71AA-E27C-A3D5-6E442F7F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352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1E408-FB21-C904-DD59-C8866D737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A9A1B-2860-9C82-4802-DF3BBDF05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C4BED-5B46-B5CD-7973-59CFB659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6CE02-468B-6570-C2A8-AF6A94D95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9BDC7-BC37-D171-0A98-05356DE1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8883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FD8-5A3C-BF33-0EA3-17F190BE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F9950-6EDC-A6B3-BA71-8DEE8EB55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F66FF-2989-4F15-8131-17704AFE9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5C960-6448-20CD-9956-2EFD9B783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85F68-1657-51C7-569D-20901D0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15724-ADC5-09B2-7AD9-3487851D4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2508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392C-F6AF-0A3B-D3AF-F1895EC6F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47DA1-22AE-A555-DB13-AAD3F8AB9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FBE0F-17D8-9E7E-00A2-BF54E5815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ABD28-77BE-687A-7DAA-7EF78B5D6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EE7577-B528-C497-F697-3A57A3318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E192FA-02BF-A7F8-97EE-94D7D43D1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94298E-3D1F-F3C9-E2F3-B39FCE3F0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221BD5-74AF-5DE6-8890-2A5E46FA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7953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1FB19-708F-B446-C94E-739F9EAC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C23D8-4339-6E55-7E04-CE0CAC246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A9A845-8B10-3A98-E3CC-0C7F71DCB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3DE50-9AB5-1C15-3C59-D8B29CA99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566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AE8A81-70C2-FD95-E89D-35CB9DDA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B8927-C3BA-8037-8355-9BD9DC74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CAFCB-0B9D-6787-A76F-7D8C66D2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0567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745F1-1CA9-CD84-4DCD-57AD2D4A2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1ABA0-44E0-0D50-6EF6-D02A300AC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92A31-D8BB-3614-E06F-B5DC2F37E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F0ECF-C09C-104F-3ED4-2465B1C86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DB431-9497-3E66-2DF0-7BA2711C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CA521-E7CD-9FE7-6C7B-1D1DDE8F9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5707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2C0E-7303-8238-5DB4-7BBA81A0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CB3CEB-D34C-D919-E9AD-2FD3F21BF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45445-C948-A28D-BCE5-220D17849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16267-B760-E6D1-AE7F-3D3507F2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FF94B-9AA6-10D6-EE57-164E56DBE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CEE34-022F-C696-D51E-4A084439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3686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2B53-7C0D-C305-72F0-C6F2F1D8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8BDB7-3ED2-A6DF-467D-FD2A8A763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41C0F-CA54-2C04-5AFE-759208EAE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9C260-A6E4-CC91-C837-821ECFEA4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348AF-0A33-DFF7-9AFD-ED04C28C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9344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27EF8-711F-67F7-32AA-0261A23B4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925DF-AF56-3C8E-75A9-8D84017F9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36D7A-99A9-7F02-3828-7723CC81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0CEE6-FF07-B4C1-53EC-D1247DF6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E30FB-FB7A-8A9B-2F3B-775DDE8B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03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4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8F095-1122-B047-1B0A-F0EFD4CCD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5C382-4F70-9C9F-6B42-8A89EEF3B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24ABF-7264-8DE0-A884-AB3897860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D4625-1B5A-4F0D-B92B-C5895307C2F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C6780-BA02-542B-4239-ABEF00A4C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E536-F680-1C1F-7677-EB41AB07F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11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22526-04E2-3EAA-8444-3173F53B5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435FC-F994-DB18-2DFF-F676A1E7E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068D6-7685-049F-88C4-103BFC629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63D13-1DE5-435A-B899-230961F8C57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62328-6628-E857-E530-8BB5A4C91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DFF2A-173C-0D2B-E396-2A6B6C3DF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50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425760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7553" y="1525731"/>
            <a:ext cx="5924550" cy="4192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SIH26133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Accessibility and Quality of Public Healthcare Services, particularly in rural and underserved areas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Medtech/ Biotech/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PS Category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Team Number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Alpha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85ACF5-D609-867F-F54A-3D9E4F8FB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35" y="4904084"/>
            <a:ext cx="2271157" cy="19198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B182F0-C37D-69D0-FC91-ECB38B208ECB}"/>
              </a:ext>
            </a:extLst>
          </p:cNvPr>
          <p:cNvSpPr txBox="1"/>
          <p:nvPr/>
        </p:nvSpPr>
        <p:spPr>
          <a:xfrm>
            <a:off x="12167755" y="4052455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BCDD0BE-B4A9-7407-D396-8F166D6F93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841523" y="1028180"/>
            <a:ext cx="6220572" cy="5258321"/>
          </a:xfrm>
          <a:prstGeom prst="rect">
            <a:avLst/>
          </a:prstGeom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MAKE HEALTHCARE ACCESSIBLE </a:t>
            </a:r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ANYTIME AND ANYWHERE 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8827" y="1395246"/>
            <a:ext cx="31364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6">
                    <a:lumMod val="75000"/>
                  </a:schemeClr>
                </a:solidFill>
                <a:latin typeface="Britannic Bold" panose="020B0903060703020204" pitchFamily="34" charset="0"/>
                <a:cs typeface="Arial" pitchFamily="34" charset="0"/>
              </a:rPr>
              <a:t>Proposed Solution</a:t>
            </a:r>
            <a:endParaRPr lang="en-US" sz="2400" u="sng" dirty="0">
              <a:solidFill>
                <a:schemeClr val="accent6">
                  <a:lumMod val="75000"/>
                </a:schemeClr>
              </a:solidFill>
              <a:latin typeface="Britannic Bold" panose="020B0903060703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B050"/>
                </a:solidFill>
                <a:latin typeface="Bernard MT Condensed" panose="02050806060905020404" pitchFamily="18" charset="0"/>
              </a:rPr>
              <a:t>TEAM ALPHA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9057916-558F-CFCC-C759-6736F17B47D7}"/>
              </a:ext>
            </a:extLst>
          </p:cNvPr>
          <p:cNvSpPr/>
          <p:nvPr/>
        </p:nvSpPr>
        <p:spPr>
          <a:xfrm>
            <a:off x="182998" y="2174230"/>
            <a:ext cx="3407807" cy="269690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Rural Health Checkup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Vital Check : BP, Sugar, Temperature, Pulse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Local Language Support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Digital Prescription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32401E4-5965-C972-1B63-896E82A00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8965" y="1416505"/>
            <a:ext cx="469490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6">
                    <a:lumMod val="75000"/>
                  </a:schemeClr>
                </a:solidFill>
                <a:latin typeface="Britannic Bold" panose="020B0903060703020204" pitchFamily="34" charset="0"/>
                <a:cs typeface="Arial" pitchFamily="34" charset="0"/>
              </a:rPr>
              <a:t>How It Addresses the Problem</a:t>
            </a:r>
            <a:endParaRPr lang="en-US" sz="2400" u="sng" dirty="0">
              <a:solidFill>
                <a:schemeClr val="accent6">
                  <a:lumMod val="75000"/>
                </a:schemeClr>
              </a:solidFill>
              <a:latin typeface="Britannic Bold" panose="020B0903060703020204" pitchFamily="34" charset="0"/>
              <a:cs typeface="Arial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29B7D3-07F6-2BB8-27D4-8E1E37DF1736}"/>
              </a:ext>
            </a:extLst>
          </p:cNvPr>
          <p:cNvSpPr/>
          <p:nvPr/>
        </p:nvSpPr>
        <p:spPr>
          <a:xfrm>
            <a:off x="3945750" y="2141792"/>
            <a:ext cx="3689555" cy="269690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Healthcare at Village Level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Quick Health Assessment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Less Travel to Hospitals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Easy Access to Prescription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Early Health Risk Detection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00B40B0C-4E1C-D764-46EB-EF6DFECA0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7519" y="1431149"/>
            <a:ext cx="42770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6">
                    <a:lumMod val="75000"/>
                  </a:schemeClr>
                </a:solidFill>
                <a:latin typeface="Britannic Bold" panose="020B0903060703020204" pitchFamily="34" charset="0"/>
                <a:cs typeface="Arial" pitchFamily="34" charset="0"/>
              </a:rPr>
              <a:t>Innovation and Uniqueness</a:t>
            </a:r>
            <a:endParaRPr lang="en-US" sz="2400" u="sng" dirty="0">
              <a:solidFill>
                <a:schemeClr val="accent6">
                  <a:lumMod val="75000"/>
                </a:schemeClr>
              </a:solidFill>
              <a:latin typeface="Britannic Bold" panose="020B0903060703020204" pitchFamily="34" charset="0"/>
              <a:cs typeface="Arial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2FEF43-C7D3-5BBF-CD1F-B79F531109CF}"/>
              </a:ext>
            </a:extLst>
          </p:cNvPr>
          <p:cNvSpPr/>
          <p:nvPr/>
        </p:nvSpPr>
        <p:spPr>
          <a:xfrm>
            <a:off x="7995609" y="2105406"/>
            <a:ext cx="3989693" cy="269690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Accessible and Easy to Use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Simple Digital Health Record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Personalized Prescription Support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Local Language + Health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Rural-First Healthcare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B050"/>
                </a:solidFill>
                <a:latin typeface="Bernard MT Condensed" panose="02050806060905020404" pitchFamily="18" charset="0"/>
              </a:rPr>
              <a:t>TEAM ALPHA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BA7022-A966-3716-0E75-19481C126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1513232"/>
            <a:ext cx="11600466" cy="41993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1A58F1-16D5-F508-BB78-071F8B4280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428245" y="504740"/>
            <a:ext cx="6759047" cy="57135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B050"/>
                </a:solidFill>
                <a:latin typeface="Bernard MT Condensed" panose="02050806060905020404" pitchFamily="18" charset="0"/>
              </a:rPr>
              <a:t>TEAM ALPHA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A0334B6-0E6E-016D-1434-EFB16E71ADF3}"/>
              </a:ext>
            </a:extLst>
          </p:cNvPr>
          <p:cNvSpPr/>
          <p:nvPr/>
        </p:nvSpPr>
        <p:spPr>
          <a:xfrm>
            <a:off x="81031" y="1197078"/>
            <a:ext cx="12029936" cy="16070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defRPr/>
            </a:pPr>
            <a:r>
              <a:rPr lang="en-US" u="sng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Analysis of Feasibility of the Idea</a:t>
            </a: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u="sng" dirty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Uses existing resources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: Connects available doctors, pharmacies, clinics and diagnostic centres instead of creating new infrastructure.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u="sng" dirty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User-friendly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: Designed with a simple interface so that even users with limited digital literacy can access healthcare services.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0AE37F-485A-805A-1638-B86740160012}"/>
              </a:ext>
            </a:extLst>
          </p:cNvPr>
          <p:cNvSpPr/>
          <p:nvPr/>
        </p:nvSpPr>
        <p:spPr>
          <a:xfrm>
            <a:off x="81031" y="2904109"/>
            <a:ext cx="12029936" cy="16070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defRPr/>
            </a:pPr>
            <a:r>
              <a:rPr lang="en-US" u="sng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Potential Challenges &amp; Risks</a:t>
            </a:r>
          </a:p>
          <a:p>
            <a:pPr lvl="0" algn="just">
              <a:defRPr/>
            </a:pPr>
            <a:endParaRPr lang="en-US" u="sng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u="sng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Poor internet connectivity in remote villages.  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u="sng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Availability of doctors may be limited in remote areas.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DF4435-5388-4FD2-783D-2759D970D0F6}"/>
              </a:ext>
            </a:extLst>
          </p:cNvPr>
          <p:cNvSpPr/>
          <p:nvPr/>
        </p:nvSpPr>
        <p:spPr>
          <a:xfrm>
            <a:off x="81031" y="4610168"/>
            <a:ext cx="11948905" cy="157227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u="sng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 for Upcoming</a:t>
            </a:r>
          </a:p>
          <a:p>
            <a:endParaRPr lang="en-IN" sz="2000" u="sng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Low-network solution: Design lightweight pages/app features that work with limited connectivity.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Doctor network: Partner with local doctors and hospitals and maintain scheduled consultation slots.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AB8959-7659-E3EE-5980-2B5CEC8848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475279" y="532668"/>
            <a:ext cx="6840333" cy="578221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45A6F5-0154-66FC-2538-CE8DACFBB21B}"/>
              </a:ext>
            </a:extLst>
          </p:cNvPr>
          <p:cNvSpPr/>
          <p:nvPr/>
        </p:nvSpPr>
        <p:spPr>
          <a:xfrm>
            <a:off x="983218" y="1275267"/>
            <a:ext cx="4106535" cy="437518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rlin Sans FB Demi" panose="020E0802020502020306" pitchFamily="34" charset="0"/>
                <a:ea typeface="ＭＳ Ｐゴシック" pitchFamily="1" charset="-128"/>
              </a:rPr>
              <a:t>Early Intervention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t>: Catches chronic conditions like cardiovascular diseases and maternal risks months before they become fatal emergencies.</a:t>
            </a:r>
          </a:p>
          <a:p>
            <a:pPr marR="0" lvl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IN" dirty="0">
                <a:solidFill>
                  <a:srgbClr val="FF0000"/>
                </a:solidFill>
                <a:latin typeface="Berlin Sans FB Demi" panose="020E0802020502020306" pitchFamily="34" charset="0"/>
                <a:ea typeface="ＭＳ Ｐゴシック" pitchFamily="1" charset="-128"/>
              </a:rPr>
              <a:t>Zero Income Disruption </a:t>
            </a:r>
            <a:r>
              <a:rPr lang="en-IN" dirty="0">
                <a:solidFill>
                  <a:prstClr val="black"/>
                </a:solidFill>
                <a:latin typeface="Calibri" pitchFamily="34" charset="0"/>
                <a:ea typeface="ＭＳ Ｐゴシック" pitchFamily="1" charset="-128"/>
              </a:rPr>
              <a:t>: Saves daily wage laborers from losing a day’s pay to travel to distant city hospitals for basic consultations.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9933" y="28804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8A3E"/>
                </a:solidFill>
                <a:latin typeface="Bernard MT Condensed" panose="02050806060905020404" pitchFamily="18" charset="0"/>
              </a:rPr>
              <a:t>TEAM ALPHA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F129A1-1EDD-937E-2CE4-27A5C8CB2753}"/>
              </a:ext>
            </a:extLst>
          </p:cNvPr>
          <p:cNvSpPr/>
          <p:nvPr/>
        </p:nvSpPr>
        <p:spPr>
          <a:xfrm>
            <a:off x="7287715" y="1275266"/>
            <a:ext cx="4225858" cy="437519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rlin Sans FB Demi" panose="020E0802020502020306" pitchFamily="34" charset="0"/>
                <a:ea typeface="ＭＳ Ｐゴシック" pitchFamily="1" charset="-128"/>
              </a:rPr>
              <a:t>Social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t> : Democratizes quality healthcare access, drastically reducing the mortality rate gap between urban and rural citizens.</a:t>
            </a: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IN" dirty="0">
              <a:solidFill>
                <a:prstClr val="black"/>
              </a:solidFill>
              <a:latin typeface="Calibri" pitchFamily="34" charset="0"/>
              <a:ea typeface="ＭＳ Ｐゴシック" pitchFamily="1" charset="-128"/>
            </a:endParaRP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rlin Sans FB Demi" panose="020E0802020502020306" pitchFamily="34" charset="0"/>
                <a:ea typeface="ＭＳ Ｐゴシック" pitchFamily="1" charset="-128"/>
              </a:rPr>
              <a:t>Economic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t> : Lowers out-of-pocket medical expenditure by up to 60% through proactive prevention and cheaper local monitoring.</a:t>
            </a: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IN" dirty="0">
              <a:solidFill>
                <a:prstClr val="black"/>
              </a:solidFill>
              <a:latin typeface="Calibri" pitchFamily="34" charset="0"/>
              <a:ea typeface="ＭＳ Ｐゴシック" pitchFamily="1" charset="-128"/>
            </a:endParaRP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erlin Sans FB Demi" panose="020E0802020502020306" pitchFamily="34" charset="0"/>
                <a:ea typeface="ＭＳ Ｐゴシック" pitchFamily="1" charset="-128"/>
              </a:rPr>
              <a:t>Environmental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t> : Significantly minimizes carbon footprints by reducing fuel consumption associated with millions of medical trips from villages to tier-1 cities.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9DA8A8-E6B5-CC5D-817C-59883EE28BD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554179" y="655913"/>
            <a:ext cx="6466350" cy="54660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880863"/>
            <a:ext cx="10749280" cy="3354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National Health Mission (NHM) India Reports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Used data on rural doctor shortages and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operationa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 primary health centers (PHCs). 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World Health Organization (WHO) Telemedicine Frameworks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Adhered to standard guidelines for mobile health (mHealth) and remote clinical assessments.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Ayushman Bharat Digital Mission (ABDM) </a:t>
            </a:r>
            <a:endParaRPr lang="en-US" sz="2800" u="sng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</a:t>
            </a:r>
            <a:r>
              <a:rPr lang="en-US" sz="2800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EEE Research Papers</a:t>
            </a:r>
            <a:endParaRPr kumimoji="0" lang="en-US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B050"/>
                </a:solidFill>
                <a:latin typeface="Bernard MT Condensed" panose="02050806060905020404" pitchFamily="18" charset="0"/>
              </a:rPr>
              <a:t>TEAM ALPHA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7791</TotalTime>
  <Words>408</Words>
  <Application>Microsoft Office PowerPoint</Application>
  <PresentationFormat>Widescreen</PresentationFormat>
  <Paragraphs>69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ＭＳ Ｐゴシック</vt:lpstr>
      <vt:lpstr>Arial</vt:lpstr>
      <vt:lpstr>Berlin Sans FB Demi</vt:lpstr>
      <vt:lpstr>Bernard MT Condensed</vt:lpstr>
      <vt:lpstr>Britannic Bold</vt:lpstr>
      <vt:lpstr>Calibri</vt:lpstr>
      <vt:lpstr>Calibri Light</vt:lpstr>
      <vt:lpstr>Californian FB</vt:lpstr>
      <vt:lpstr>Garamond</vt:lpstr>
      <vt:lpstr>Times New Roman</vt:lpstr>
      <vt:lpstr>TradeGothic</vt:lpstr>
      <vt:lpstr>Wingdings</vt:lpstr>
      <vt:lpstr>Office Theme</vt:lpstr>
      <vt:lpstr>Custom Design</vt:lpstr>
      <vt:lpstr>1_Custom Design</vt:lpstr>
      <vt:lpstr>SMART INDIA HACKATHON 2026</vt:lpstr>
      <vt:lpstr> MAKE HEALTHCARE ACCESSIBLE  ANYTIME AND ANYWHERE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Animisha Sharma</cp:lastModifiedBy>
  <cp:revision>150</cp:revision>
  <dcterms:created xsi:type="dcterms:W3CDTF">2013-12-12T18:46:50Z</dcterms:created>
  <dcterms:modified xsi:type="dcterms:W3CDTF">2026-08-22T18:59:13Z</dcterms:modified>
  <cp:category/>
</cp:coreProperties>
</file>